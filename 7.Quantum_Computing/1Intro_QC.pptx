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haron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5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 extrusionOk="0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haron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42" name="Google Shape;42;p5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53" name="Google Shape;53;p6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60" name="Google Shape;60;p7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66" name="Google Shape;66;p8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haron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75" name="Google Shape;75;p9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haron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84" name="Google Shape;84;p10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92" name="Google Shape;92;p11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1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00" name="Google Shape;100;p12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2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haroni"/>
              <a:buNone/>
              <a:defRPr sz="40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 rot="-172285">
            <a:off x="1108520" y="775849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>
            <a:spLocks noGrp="1"/>
          </p:cNvSpPr>
          <p:nvPr>
            <p:ph type="ctrTitle"/>
          </p:nvPr>
        </p:nvSpPr>
        <p:spPr>
          <a:xfrm>
            <a:off x="860742" y="1124988"/>
            <a:ext cx="4425962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Aharoni"/>
              <a:buNone/>
            </a:pPr>
            <a:r>
              <a:rPr lang="en-US" sz="4700"/>
              <a:t>1. ¿Qué es una computadora cuántica?</a:t>
            </a:r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subTitle" idx="1"/>
          </p:nvPr>
        </p:nvSpPr>
        <p:spPr>
          <a:xfrm>
            <a:off x="860742" y="3633691"/>
            <a:ext cx="4425962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Diplomado de Cómputo y Programación Cuántica</a:t>
            </a:r>
            <a:endParaRPr/>
          </a:p>
        </p:txBody>
      </p:sp>
      <p:pic>
        <p:nvPicPr>
          <p:cNvPr id="125" name="Google Shape;125;p15" descr="Placa base"/>
          <p:cNvPicPr preferRelativeResize="0"/>
          <p:nvPr/>
        </p:nvPicPr>
        <p:blipFill rotWithShape="1">
          <a:blip r:embed="rId3">
            <a:alphaModFix/>
          </a:blip>
          <a:srcRect l="16672" r="20467" b="-2"/>
          <a:stretch/>
        </p:blipFill>
        <p:spPr>
          <a:xfrm>
            <a:off x="5733768" y="-1"/>
            <a:ext cx="6458232" cy="6858001"/>
          </a:xfrm>
          <a:custGeom>
            <a:avLst/>
            <a:gdLst/>
            <a:ahLst/>
            <a:cxnLst/>
            <a:rect l="l" t="t" r="r" b="b"/>
            <a:pathLst>
              <a:path w="6458232" h="6858001" extrusionOk="0">
                <a:moveTo>
                  <a:pt x="2209000" y="0"/>
                </a:moveTo>
                <a:lnTo>
                  <a:pt x="6458232" y="0"/>
                </a:lnTo>
                <a:lnTo>
                  <a:pt x="6458232" y="6858001"/>
                </a:lnTo>
                <a:lnTo>
                  <a:pt x="651045" y="6858001"/>
                </a:lnTo>
                <a:lnTo>
                  <a:pt x="635146" y="6830200"/>
                </a:lnTo>
                <a:cubicBezTo>
                  <a:pt x="230085" y="6080469"/>
                  <a:pt x="0" y="5221296"/>
                  <a:pt x="0" y="4308089"/>
                </a:cubicBezTo>
                <a:cubicBezTo>
                  <a:pt x="0" y="2572997"/>
                  <a:pt x="830606" y="1032965"/>
                  <a:pt x="2113832" y="68046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26" name="Google Shape;126;p15"/>
          <p:cNvSpPr/>
          <p:nvPr/>
        </p:nvSpPr>
        <p:spPr>
          <a:xfrm>
            <a:off x="5394269" y="4274457"/>
            <a:ext cx="825256" cy="825256"/>
          </a:xfrm>
          <a:prstGeom prst="rect">
            <a:avLst/>
          </a:prstGeom>
          <a:noFill/>
          <a:ln w="1270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860742" y="5649686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6" descr="Diagrama&#10;&#10;Descripción generada automáticamente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4403" b="6179"/>
          <a:stretch/>
        </p:blipFill>
        <p:spPr>
          <a:xfrm>
            <a:off x="5101771" y="10"/>
            <a:ext cx="7094361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/>
          <p:nvPr/>
        </p:nvSpPr>
        <p:spPr>
          <a:xfrm>
            <a:off x="0" y="-4"/>
            <a:ext cx="527208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 rot="303011">
            <a:off x="1718653" y="70086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noFill/>
          <a:ln w="127000" cap="rnd" cmpd="sng">
            <a:solidFill>
              <a:srgbClr val="DD7E0E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>
            <a:spLocks noGrp="1"/>
          </p:cNvSpPr>
          <p:nvPr>
            <p:ph type="title"/>
          </p:nvPr>
        </p:nvSpPr>
        <p:spPr>
          <a:xfrm>
            <a:off x="643467" y="795509"/>
            <a:ext cx="4092525" cy="2798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700"/>
              <a:buFont typeface="Aharoni"/>
              <a:buNone/>
            </a:pPr>
            <a:r>
              <a:rPr lang="en-US" sz="4700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Computación clásica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1201186" y="4626633"/>
            <a:ext cx="491961" cy="491961"/>
          </a:xfrm>
          <a:prstGeom prst="ellipse">
            <a:avLst/>
          </a:prstGeom>
          <a:solidFill>
            <a:srgbClr val="DD7E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927932" y="5011563"/>
            <a:ext cx="731558" cy="731558"/>
          </a:xfrm>
          <a:prstGeom prst="rect">
            <a:avLst/>
          </a:prstGeom>
          <a:noFill/>
          <a:ln w="127000" cap="flat" cmpd="sng">
            <a:solidFill>
              <a:srgbClr val="DD7E0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haroni"/>
              <a:buNone/>
            </a:pPr>
            <a:r>
              <a:rPr lang="en-US"/>
              <a:t>Bits clásicos</a:t>
            </a:r>
            <a:endParaRPr/>
          </a:p>
        </p:txBody>
      </p:sp>
      <p:sp>
        <p:nvSpPr>
          <p:cNvPr id="146" name="Google Shape;146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5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El </a:t>
            </a:r>
            <a:r>
              <a:rPr lang="en-US" b="1"/>
              <a:t>bit</a:t>
            </a:r>
            <a:r>
              <a:rPr lang="en-US"/>
              <a:t> es una </a:t>
            </a:r>
            <a:r>
              <a:rPr lang="en-US" b="1"/>
              <a:t>unidad binaria </a:t>
            </a:r>
            <a:r>
              <a:rPr lang="en-US"/>
              <a:t>de </a:t>
            </a:r>
            <a:r>
              <a:rPr lang="en-US" b="1"/>
              <a:t>información</a:t>
            </a:r>
            <a:r>
              <a:rPr lang="en-US"/>
              <a:t> que se utiliza en la computación clásica. Almacena solo dos valores: </a:t>
            </a:r>
            <a:r>
              <a:rPr lang="en-US" b="1"/>
              <a:t>0 o 1</a:t>
            </a:r>
            <a:r>
              <a:rPr lang="en-US"/>
              <a:t>. </a:t>
            </a:r>
            <a:endParaRPr/>
          </a:p>
        </p:txBody>
      </p:sp>
      <p:pic>
        <p:nvPicPr>
          <p:cNvPr id="147" name="Google Shape;14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8514" y="3053534"/>
            <a:ext cx="4405085" cy="3216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3913" y="3429000"/>
            <a:ext cx="4324584" cy="2483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haroni"/>
              <a:buNone/>
            </a:pPr>
            <a:r>
              <a:rPr lang="en-US"/>
              <a:t>Bits clásicos</a:t>
            </a:r>
            <a:endParaRPr/>
          </a:p>
        </p:txBody>
      </p:sp>
      <p:pic>
        <p:nvPicPr>
          <p:cNvPr id="154" name="Google Shape;154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34686" y="1458891"/>
            <a:ext cx="5222421" cy="5033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Keshav's Blog: Bit vs By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01245" y="2714365"/>
            <a:ext cx="4917999" cy="2523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9519137" y="5486400"/>
            <a:ext cx="2672863" cy="1371600"/>
          </a:xfrm>
          <a:custGeom>
            <a:avLst/>
            <a:gdLst/>
            <a:ahLst/>
            <a:cxnLst/>
            <a:rect l="l" t="t" r="r" b="b"/>
            <a:pathLst>
              <a:path w="2672863" h="1371600" extrusionOk="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haroni"/>
              <a:buNone/>
            </a:pPr>
            <a:r>
              <a:rPr lang="en-US"/>
              <a:t>Bits clásicos</a:t>
            </a:r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body" idx="1"/>
          </p:nvPr>
        </p:nvSpPr>
        <p:spPr>
          <a:xfrm>
            <a:off x="838201" y="1984443"/>
            <a:ext cx="5257800" cy="4192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Las computadoras actuales funcionan con </a:t>
            </a:r>
            <a:r>
              <a:rPr lang="en-US" sz="2400" b="1"/>
              <a:t>bits</a:t>
            </a:r>
            <a:r>
              <a:rPr lang="en-US" sz="2400"/>
              <a:t>, un </a:t>
            </a:r>
            <a:r>
              <a:rPr lang="en-US" sz="2400" b="1"/>
              <a:t>flujo de pulsos eléctricos u ópticos </a:t>
            </a:r>
            <a:r>
              <a:rPr lang="en-US" sz="2400"/>
              <a:t>que se representan por unos o ceros.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Tweets, emails, imágenes, hasta las canciones de Apple Music y los videos de YouTube, son en escéncia largas cadenas de 1´s y 0´s.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grpSp>
        <p:nvGrpSpPr>
          <p:cNvPr id="165" name="Google Shape;165;p19"/>
          <p:cNvGrpSpPr/>
          <p:nvPr/>
        </p:nvGrpSpPr>
        <p:grpSpPr>
          <a:xfrm>
            <a:off x="6541053" y="1804038"/>
            <a:ext cx="5257800" cy="3784964"/>
            <a:chOff x="6541053" y="1804038"/>
            <a:chExt cx="5257800" cy="3784964"/>
          </a:xfrm>
        </p:grpSpPr>
        <p:pic>
          <p:nvPicPr>
            <p:cNvPr id="166" name="Google Shape;166;p19" descr="YouTube | Wiki YouTube Pedia | Fandom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41053" y="1823388"/>
              <a:ext cx="1967675" cy="14148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9" descr="Apple Music vs Spotify | Blog K-tuin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879514" y="1804038"/>
              <a:ext cx="2919339" cy="14196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19" descr="Gmail - Wikipedia, la enciclopedia libre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541053" y="3613038"/>
              <a:ext cx="2024907" cy="1561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9" descr="Un grupo de personas sonriendo en un cuarto&#10;&#10;El contenido generado por IA puede ser incorrecto.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795518" y="3340608"/>
              <a:ext cx="2987899" cy="22483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haroni"/>
              <a:buNone/>
            </a:pPr>
            <a:r>
              <a:rPr lang="en-US"/>
              <a:t>Supercomputadoras</a:t>
            </a:r>
            <a:endParaRPr/>
          </a:p>
        </p:txBody>
      </p:sp>
      <p:pic>
        <p:nvPicPr>
          <p:cNvPr id="175" name="Google Shape;175;p2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21081" y="1468502"/>
            <a:ext cx="10515599" cy="5389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haroni"/>
              <a:buNone/>
            </a:pPr>
            <a:r>
              <a:rPr lang="en-US"/>
              <a:t>Supercomputadoras</a:t>
            </a:r>
            <a:endParaRPr/>
          </a:p>
        </p:txBody>
      </p:sp>
      <p:pic>
        <p:nvPicPr>
          <p:cNvPr id="181" name="Google Shape;181;p21" descr="Frontier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690687"/>
            <a:ext cx="5352981" cy="2990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 descr="FUGAKU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1202" y="2176335"/>
            <a:ext cx="5547428" cy="350181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1112521" y="4681665"/>
            <a:ext cx="577741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Frontier, ubicado en el Oak Ridge National Laboratory en Tennessee, Estados Unidos. 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6521781" y="5678148"/>
            <a:ext cx="520627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Fugaku, ubicado el RIKEN Center for Computational Science, Japón.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haroni"/>
              <a:buNone/>
            </a:pPr>
            <a:r>
              <a:rPr lang="en-US"/>
              <a:t>Supercomputadoras</a:t>
            </a:r>
            <a:endParaRPr/>
          </a:p>
        </p:txBody>
      </p:sp>
      <p:pic>
        <p:nvPicPr>
          <p:cNvPr id="190" name="Google Shape;190;p22" descr="LUMI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37755" y="1617675"/>
            <a:ext cx="5695943" cy="2954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 descr="Leonard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41226" y="2886405"/>
            <a:ext cx="5323910" cy="295477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/>
        </p:nvSpPr>
        <p:spPr>
          <a:xfrm>
            <a:off x="1397329" y="4572445"/>
            <a:ext cx="39767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LUMI, ubicado en Kajaani, Finlandia.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7093272" y="5841175"/>
            <a:ext cx="40198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Leonardo, ubicado en Bolonia, Italia.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3" descr="Cleveland Clinic and IBM Unveil First Quantum Computer Dedicated to  Healthcare Research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16212" r="14737" b="-1"/>
          <a:stretch/>
        </p:blipFill>
        <p:spPr>
          <a:xfrm>
            <a:off x="5101771" y="10"/>
            <a:ext cx="7094361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/>
          <p:nvPr/>
        </p:nvSpPr>
        <p:spPr>
          <a:xfrm>
            <a:off x="0" y="-4"/>
            <a:ext cx="527208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 rot="303011">
            <a:off x="1718653" y="70086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noFill/>
          <a:ln w="127000" cap="rnd" cmpd="sng">
            <a:solidFill>
              <a:srgbClr val="DD7E0E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 txBox="1">
            <a:spLocks noGrp="1"/>
          </p:cNvSpPr>
          <p:nvPr>
            <p:ph type="title"/>
          </p:nvPr>
        </p:nvSpPr>
        <p:spPr>
          <a:xfrm>
            <a:off x="643467" y="795509"/>
            <a:ext cx="4092525" cy="2798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700"/>
              <a:buFont typeface="Aharoni"/>
              <a:buNone/>
            </a:pPr>
            <a:r>
              <a:rPr lang="en-US" sz="4700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Computación cuántica</a:t>
            </a:r>
            <a:endParaRPr/>
          </a:p>
        </p:txBody>
      </p:sp>
      <p:sp>
        <p:nvSpPr>
          <p:cNvPr id="204" name="Google Shape;204;p23"/>
          <p:cNvSpPr/>
          <p:nvPr/>
        </p:nvSpPr>
        <p:spPr>
          <a:xfrm>
            <a:off x="1201186" y="4626633"/>
            <a:ext cx="491961" cy="491961"/>
          </a:xfrm>
          <a:prstGeom prst="ellipse">
            <a:avLst/>
          </a:prstGeom>
          <a:solidFill>
            <a:srgbClr val="DD7E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4927932" y="5011563"/>
            <a:ext cx="731558" cy="731558"/>
          </a:xfrm>
          <a:prstGeom prst="rect">
            <a:avLst/>
          </a:prstGeom>
          <a:noFill/>
          <a:ln w="127000" cap="flat" cmpd="sng">
            <a:solidFill>
              <a:srgbClr val="DD7E0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4" descr="Diagrama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haroni"/>
              <a:buNone/>
            </a:pPr>
            <a:r>
              <a:rPr lang="en-US"/>
              <a:t>Bits cuánticos/Quantum bits (Qubits)</a:t>
            </a:r>
            <a:endParaRPr/>
          </a:p>
        </p:txBody>
      </p:sp>
      <p:sp>
        <p:nvSpPr>
          <p:cNvPr id="216" name="Google Shape;216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5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El bit en el mundo cuántico se llama qubit. </a:t>
            </a:r>
            <a:r>
              <a:rPr lang="en-US" b="1"/>
              <a:t>Un qubit o bit cuántico es la unidad básica de información cuántica.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Los </a:t>
            </a:r>
            <a:r>
              <a:rPr lang="en-US" b="1"/>
              <a:t>qubits</a:t>
            </a:r>
            <a:r>
              <a:rPr lang="en-US"/>
              <a:t> pueden estar en los estados 0 o 1 al igual que los </a:t>
            </a:r>
            <a:r>
              <a:rPr lang="en-US" b="1"/>
              <a:t>bits</a:t>
            </a:r>
            <a:r>
              <a:rPr lang="en-US"/>
              <a:t> clásicos, pero aquí hay un truco: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i="1"/>
              <a:t>“pueden estar en ambos estados al mismo tiempo”</a:t>
            </a:r>
            <a:endParaRPr i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22217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haroni"/>
              <a:buNone/>
            </a:pPr>
            <a:r>
              <a:rPr lang="en-US"/>
              <a:t>¿Que ventaja tienen?</a:t>
            </a:r>
            <a:endParaRPr/>
          </a:p>
        </p:txBody>
      </p:sp>
      <p:sp>
        <p:nvSpPr>
          <p:cNvPr id="227" name="Google Shape;227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5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Un bit clásico solo puede realizar un único cálculo en un período de tiempo determinado, mientras que Qubit puede existir simultáneamente en múltiples estados.</a:t>
            </a:r>
            <a:endParaRPr/>
          </a:p>
        </p:txBody>
      </p:sp>
      <p:pic>
        <p:nvPicPr>
          <p:cNvPr id="228" name="Google Shape;22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1703" y="3586071"/>
            <a:ext cx="5648681" cy="1732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02744" y="3755496"/>
            <a:ext cx="4851056" cy="2533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8" descr="Fondo de tecnología de bloques y redes azules"/>
          <p:cNvPicPr preferRelativeResize="0"/>
          <p:nvPr/>
        </p:nvPicPr>
        <p:blipFill rotWithShape="1">
          <a:blip r:embed="rId3">
            <a:alphaModFix/>
          </a:blip>
          <a:srcRect l="14632" r="45541" b="-445"/>
          <a:stretch/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 extrusionOk="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36" name="Google Shape;236;p28"/>
          <p:cNvSpPr/>
          <p:nvPr/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8"/>
          <p:cNvSpPr txBox="1"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haroni"/>
              <a:buNone/>
            </a:pPr>
            <a:r>
              <a:rPr lang="en-US"/>
              <a:t>¿Que ventaja tienen?</a:t>
            </a:r>
            <a:endParaRPr/>
          </a:p>
        </p:txBody>
      </p:sp>
      <p:sp>
        <p:nvSpPr>
          <p:cNvPr id="238" name="Google Shape;238;p28"/>
          <p:cNvSpPr txBox="1">
            <a:spLocks noGrp="1"/>
          </p:cNvSpPr>
          <p:nvPr>
            <p:ph type="body" idx="1"/>
          </p:nvPr>
        </p:nvSpPr>
        <p:spPr>
          <a:xfrm>
            <a:off x="5827048" y="1868487"/>
            <a:ext cx="572148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/>
              <a:t>Qubit</a:t>
            </a:r>
            <a:r>
              <a:rPr lang="en-US" sz="2400"/>
              <a:t> se puede utilizar para búsquedas en múltiples bases de datos o en </a:t>
            </a:r>
            <a:r>
              <a:rPr lang="en-US" sz="2400" b="1"/>
              <a:t>inteligencia artificial (IA) y aprendizaje automático (machine learning) para entrenar modelos de aprendizaje profundo (deep learning) </a:t>
            </a:r>
            <a:r>
              <a:rPr lang="en-US" sz="2400"/>
              <a:t>para aprender los parámetros del modelo mediante la paralelización de las tareas, de modo que se puedan entrenar rápidamente modelos muy complejos y grandes.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9519137" y="5486400"/>
            <a:ext cx="2672863" cy="1371600"/>
          </a:xfrm>
          <a:custGeom>
            <a:avLst/>
            <a:gdLst/>
            <a:ahLst/>
            <a:cxnLst/>
            <a:rect l="l" t="t" r="r" b="b"/>
            <a:pathLst>
              <a:path w="2672863" h="1371600" extrusionOk="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29" descr="La representación de la esfera de Bloch para un estado qubit. Imagen... |  Download Scientific Diagra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1921" y="1101605"/>
            <a:ext cx="5764158" cy="4323117"/>
          </a:xfrm>
          <a:custGeom>
            <a:avLst/>
            <a:gdLst/>
            <a:ahLst/>
            <a:cxnLst/>
            <a:rect l="l" t="t" r="r" b="b"/>
            <a:pathLst>
              <a:path w="4777381" h="5643794" extrusionOk="0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46" name="Google Shape;246;p29"/>
          <p:cNvSpPr/>
          <p:nvPr/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9"/>
          <p:cNvSpPr txBox="1"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haroni"/>
              <a:buNone/>
            </a:pPr>
            <a:r>
              <a:rPr lang="en-US"/>
              <a:t>¿Cómo se crea un Qubit?</a:t>
            </a:r>
            <a:endParaRPr/>
          </a:p>
        </p:txBody>
      </p:sp>
      <p:sp>
        <p:nvSpPr>
          <p:cNvPr id="248" name="Google Shape;248;p29"/>
          <p:cNvSpPr txBox="1">
            <a:spLocks noGrp="1"/>
          </p:cNvSpPr>
          <p:nvPr>
            <p:ph type="body" idx="1"/>
          </p:nvPr>
        </p:nvSpPr>
        <p:spPr>
          <a:xfrm>
            <a:off x="838201" y="1984443"/>
            <a:ext cx="5257800" cy="4192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Para un </a:t>
            </a:r>
            <a:r>
              <a:rPr lang="en-US" sz="2400" b="1"/>
              <a:t>bit clásico</a:t>
            </a:r>
            <a:r>
              <a:rPr lang="en-US" sz="2400"/>
              <a:t>, solo consideramos el </a:t>
            </a:r>
            <a:r>
              <a:rPr lang="en-US" sz="2400" b="1"/>
              <a:t>flujo de electrones </a:t>
            </a:r>
            <a:r>
              <a:rPr lang="en-US" sz="2400"/>
              <a:t>para determinar si el bit es </a:t>
            </a:r>
            <a:r>
              <a:rPr lang="en-US" sz="2400" b="1"/>
              <a:t>"0" </a:t>
            </a:r>
            <a:r>
              <a:rPr lang="en-US" sz="2400"/>
              <a:t>o </a:t>
            </a:r>
            <a:r>
              <a:rPr lang="en-US" sz="2400" b="1"/>
              <a:t>"1“</a:t>
            </a:r>
            <a:r>
              <a:rPr lang="en-US" sz="2400"/>
              <a:t>. Los </a:t>
            </a:r>
            <a:r>
              <a:rPr lang="en-US" sz="2400" b="1"/>
              <a:t>Qubits</a:t>
            </a:r>
            <a:r>
              <a:rPr lang="en-US" sz="2400"/>
              <a:t> se crean mediante </a:t>
            </a:r>
            <a:r>
              <a:rPr lang="en-US" sz="2400" b="1"/>
              <a:t>sistemas físicos</a:t>
            </a:r>
            <a:r>
              <a:rPr lang="en-US" sz="2400"/>
              <a:t>, como el </a:t>
            </a:r>
            <a:r>
              <a:rPr lang="en-US" sz="2400" b="1"/>
              <a:t>espín de un electrón</a:t>
            </a:r>
            <a:r>
              <a:rPr lang="en-US" sz="2400"/>
              <a:t> o </a:t>
            </a:r>
            <a:r>
              <a:rPr lang="en-US" sz="2400" b="1"/>
              <a:t>la orientación de un fotón </a:t>
            </a:r>
            <a:r>
              <a:rPr lang="en-US" sz="2400"/>
              <a:t>para determinar el estado del mismo.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1" descr="Imagen que contiene Interfaz de usuario gráfica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2"/>
          <p:cNvSpPr txBox="1">
            <a:spLocks noGrp="1"/>
          </p:cNvSpPr>
          <p:nvPr>
            <p:ph type="title"/>
          </p:nvPr>
        </p:nvSpPr>
        <p:spPr>
          <a:xfrm>
            <a:off x="633456" y="486184"/>
            <a:ext cx="53972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haroni"/>
              <a:buNone/>
            </a:pPr>
            <a:r>
              <a:rPr lang="en-US"/>
              <a:t>Industria de la computación cuántica</a:t>
            </a:r>
            <a:endParaRPr/>
          </a:p>
        </p:txBody>
      </p:sp>
      <p:sp>
        <p:nvSpPr>
          <p:cNvPr id="265" name="Google Shape;265;p32"/>
          <p:cNvSpPr txBox="1">
            <a:spLocks noGrp="1"/>
          </p:cNvSpPr>
          <p:nvPr>
            <p:ph type="body" idx="1"/>
          </p:nvPr>
        </p:nvSpPr>
        <p:spPr>
          <a:xfrm>
            <a:off x="633456" y="1946684"/>
            <a:ext cx="5397237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Empresas, como </a:t>
            </a:r>
            <a:r>
              <a:rPr lang="en-US" sz="2400" b="1"/>
              <a:t>IBM, Google, Rigetti Computing</a:t>
            </a:r>
            <a:r>
              <a:rPr lang="en-US" sz="2400"/>
              <a:t>, usan circuitos superconductores enfriados a temperaturas más frías que el espacio profundo para crear </a:t>
            </a:r>
            <a:r>
              <a:rPr lang="en-US" sz="2400" i="1"/>
              <a:t>Qubits</a:t>
            </a:r>
            <a:r>
              <a:rPr lang="en-US" sz="2400"/>
              <a:t>. Otras como </a:t>
            </a:r>
            <a:r>
              <a:rPr lang="en-US" sz="2400" b="1"/>
              <a:t>IonQ</a:t>
            </a:r>
            <a:r>
              <a:rPr lang="en-US" sz="2400"/>
              <a:t>, atrapan atómos individuales en campos electromagnéticos en un chip de silicio en camaras de ultravacío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pic>
        <p:nvPicPr>
          <p:cNvPr id="266" name="Google Shape;266;p32" descr="Imagen que contiene tabla, comida, monitor, hombre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8100" y="758063"/>
            <a:ext cx="5023786" cy="2662607"/>
          </a:xfrm>
          <a:custGeom>
            <a:avLst/>
            <a:gdLst/>
            <a:ahLst/>
            <a:cxnLst/>
            <a:rect l="l" t="t" r="r" b="b"/>
            <a:pathLst>
              <a:path w="4438338" h="2323972" extrusionOk="0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67" name="Google Shape;267;p32"/>
          <p:cNvSpPr/>
          <p:nvPr/>
        </p:nvSpPr>
        <p:spPr>
          <a:xfrm>
            <a:off x="9519137" y="5486400"/>
            <a:ext cx="2672863" cy="1371600"/>
          </a:xfrm>
          <a:custGeom>
            <a:avLst/>
            <a:gdLst/>
            <a:ahLst/>
            <a:cxnLst/>
            <a:rect l="l" t="t" r="r" b="b"/>
            <a:pathLst>
              <a:path w="2672863" h="1371600" extrusionOk="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32" descr="Imagen en blanco y negro&#10;&#10;Descripción generada automáticamente con confianza baj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27175" y="3662427"/>
            <a:ext cx="5138998" cy="3186179"/>
          </a:xfrm>
          <a:custGeom>
            <a:avLst/>
            <a:gdLst/>
            <a:ahLst/>
            <a:cxnLst/>
            <a:rect l="l" t="t" r="r" b="b"/>
            <a:pathLst>
              <a:path w="4555700" h="2733294" extrusionOk="0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69" name="Google Shape;269;p32"/>
          <p:cNvSpPr/>
          <p:nvPr/>
        </p:nvSpPr>
        <p:spPr>
          <a:xfrm rot="-1095198" flipH="1">
            <a:off x="6443172" y="162676"/>
            <a:ext cx="4083433" cy="4083433"/>
          </a:xfrm>
          <a:prstGeom prst="arc">
            <a:avLst>
              <a:gd name="adj1" fmla="val 17445962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33"/>
          <p:cNvPicPr preferRelativeResize="0"/>
          <p:nvPr/>
        </p:nvPicPr>
        <p:blipFill rotWithShape="1">
          <a:blip r:embed="rId3">
            <a:alphaModFix/>
          </a:blip>
          <a:srcRect r="59997" b="-444"/>
          <a:stretch/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 extrusionOk="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76" name="Google Shape;276;p33"/>
          <p:cNvSpPr/>
          <p:nvPr/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3"/>
          <p:cNvSpPr txBox="1"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haroni"/>
              <a:buNone/>
            </a:pPr>
            <a:r>
              <a:rPr lang="en-US" b="1"/>
              <a:t>Empresas que utilizan computación cuántica</a:t>
            </a:r>
            <a:endParaRPr/>
          </a:p>
        </p:txBody>
      </p:sp>
      <p:sp>
        <p:nvSpPr>
          <p:cNvPr id="278" name="Google Shape;278;p33"/>
          <p:cNvSpPr txBox="1">
            <a:spLocks noGrp="1"/>
          </p:cNvSpPr>
          <p:nvPr>
            <p:ph type="body" idx="1"/>
          </p:nvPr>
        </p:nvSpPr>
        <p:spPr>
          <a:xfrm>
            <a:off x="5827048" y="1868487"/>
            <a:ext cx="572148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/>
              <a:t>IBM/ Google: </a:t>
            </a:r>
            <a:r>
              <a:rPr lang="en-US" sz="2000"/>
              <a:t>mezcla computación cuántica y clásica para acelerar IA.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/>
              <a:t>JPMorgan Chase: </a:t>
            </a:r>
            <a:r>
              <a:rPr lang="en-US" sz="2000"/>
              <a:t>Simulación del mercado financiero como un proceso cuántico.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/>
              <a:t>Microsoft: </a:t>
            </a:r>
            <a:r>
              <a:rPr lang="en-US" sz="2000"/>
              <a:t>Optimización energética del proceso Haber para la fabricación de Amonio.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/>
              <a:t>Rigetti Computing:</a:t>
            </a:r>
            <a:r>
              <a:rPr lang="en-US" sz="2000"/>
              <a:t> Predicción del tiempo.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/>
              <a:t>PoteinQure: </a:t>
            </a:r>
            <a:r>
              <a:rPr lang="en-US" sz="2000"/>
              <a:t>Simulación e ingeniería de proteínas para el desarrollo de fármacos.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/>
              <a:t>Daimler Truck  AG: </a:t>
            </a:r>
            <a:r>
              <a:rPr lang="en-US" sz="2000"/>
              <a:t>Desarrollo de baterías.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/>
              <a:t>Volkwagen AG: </a:t>
            </a:r>
            <a:r>
              <a:rPr lang="en-US" sz="2000"/>
              <a:t>Optimización de tráfico y flotas.</a:t>
            </a:r>
            <a:endParaRPr sz="2000"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4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4"/>
          <p:cNvSpPr/>
          <p:nvPr/>
        </p:nvSpPr>
        <p:spPr>
          <a:xfrm>
            <a:off x="-2" y="-4"/>
            <a:ext cx="6252552" cy="6858003"/>
          </a:xfrm>
          <a:custGeom>
            <a:avLst/>
            <a:gdLst/>
            <a:ahLst/>
            <a:cxnLst/>
            <a:rect l="l" t="t" r="r" b="b"/>
            <a:pathLst>
              <a:path w="6252552" h="6858003" extrusionOk="0">
                <a:moveTo>
                  <a:pt x="2609706" y="0"/>
                </a:moveTo>
                <a:lnTo>
                  <a:pt x="6252552" y="0"/>
                </a:lnTo>
                <a:lnTo>
                  <a:pt x="6252552" y="6858002"/>
                </a:lnTo>
                <a:lnTo>
                  <a:pt x="6228060" y="6858002"/>
                </a:lnTo>
                <a:lnTo>
                  <a:pt x="6228060" y="6858003"/>
                </a:lnTo>
                <a:lnTo>
                  <a:pt x="0" y="6858003"/>
                </a:lnTo>
                <a:lnTo>
                  <a:pt x="0" y="1"/>
                </a:lnTo>
                <a:lnTo>
                  <a:pt x="260970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4"/>
          <p:cNvSpPr/>
          <p:nvPr/>
        </p:nvSpPr>
        <p:spPr>
          <a:xfrm rot="303011">
            <a:off x="2974408" y="70086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noFill/>
          <a:ln w="127000" cap="rnd" cmpd="sng">
            <a:solidFill>
              <a:srgbClr val="DD7E0E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4"/>
          <p:cNvSpPr txBox="1">
            <a:spLocks noGrp="1"/>
          </p:cNvSpPr>
          <p:nvPr>
            <p:ph type="title"/>
          </p:nvPr>
        </p:nvSpPr>
        <p:spPr>
          <a:xfrm>
            <a:off x="643467" y="795509"/>
            <a:ext cx="5271106" cy="2798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haroni"/>
              <a:buNone/>
            </a:pPr>
            <a:r>
              <a:rPr lang="en-US" sz="6000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Procesadores cuánticos</a:t>
            </a:r>
            <a:endParaRPr/>
          </a:p>
        </p:txBody>
      </p:sp>
      <p:pic>
        <p:nvPicPr>
          <p:cNvPr id="289" name="Google Shape;289;p34" descr="Mano sosteniendo un celular en la mano&#10;&#10;Descripción generada automáticamente con confianza media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4361" r="4" b="24634"/>
          <a:stretch/>
        </p:blipFill>
        <p:spPr>
          <a:xfrm>
            <a:off x="6509916" y="143441"/>
            <a:ext cx="5431801" cy="314343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4"/>
          <p:cNvSpPr/>
          <p:nvPr/>
        </p:nvSpPr>
        <p:spPr>
          <a:xfrm>
            <a:off x="1201186" y="5486807"/>
            <a:ext cx="491961" cy="491961"/>
          </a:xfrm>
          <a:prstGeom prst="ellipse">
            <a:avLst/>
          </a:prstGeom>
          <a:solidFill>
            <a:srgbClr val="DD7E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34"/>
          <p:cNvPicPr preferRelativeResize="0"/>
          <p:nvPr/>
        </p:nvPicPr>
        <p:blipFill rotWithShape="1">
          <a:blip r:embed="rId4">
            <a:alphaModFix/>
          </a:blip>
          <a:srcRect t="14796" r="4" b="6972"/>
          <a:stretch/>
        </p:blipFill>
        <p:spPr>
          <a:xfrm>
            <a:off x="6496428" y="3502644"/>
            <a:ext cx="5431801" cy="3187173"/>
          </a:xfrm>
          <a:custGeom>
            <a:avLst/>
            <a:gdLst/>
            <a:ahLst/>
            <a:cxnLst/>
            <a:rect l="l" t="t" r="r" b="b"/>
            <a:pathLst>
              <a:path w="5096871" h="3187173" extrusionOk="0">
                <a:moveTo>
                  <a:pt x="76652" y="0"/>
                </a:moveTo>
                <a:lnTo>
                  <a:pt x="5020219" y="0"/>
                </a:lnTo>
                <a:cubicBezTo>
                  <a:pt x="5062553" y="0"/>
                  <a:pt x="5096871" y="34318"/>
                  <a:pt x="5096871" y="76652"/>
                </a:cubicBezTo>
                <a:lnTo>
                  <a:pt x="5096871" y="3110521"/>
                </a:lnTo>
                <a:cubicBezTo>
                  <a:pt x="5096871" y="3152855"/>
                  <a:pt x="5062553" y="3187173"/>
                  <a:pt x="5020219" y="3187173"/>
                </a:cubicBezTo>
                <a:lnTo>
                  <a:pt x="76652" y="3187173"/>
                </a:lnTo>
                <a:cubicBezTo>
                  <a:pt x="34318" y="3187173"/>
                  <a:pt x="0" y="3152855"/>
                  <a:pt x="0" y="3110521"/>
                </a:cubicBezTo>
                <a:lnTo>
                  <a:pt x="0" y="76652"/>
                </a:lnTo>
                <a:cubicBezTo>
                  <a:pt x="0" y="34318"/>
                  <a:pt x="34318" y="0"/>
                  <a:pt x="76652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292" name="Google Shape;292;p34" descr="El director general de NVIDIA se ha mojado. Tiene claro cuándo llegarán los  ordenadores cuánticos realmente útiles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5313" y="3823834"/>
            <a:ext cx="4141545" cy="2798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haroni"/>
              <a:buNone/>
            </a:pPr>
            <a:r>
              <a:rPr lang="en-US"/>
              <a:t>Procesadores cuánticos de IBM</a:t>
            </a:r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38750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•"/>
            </a:pPr>
            <a:r>
              <a:rPr lang="en-US" sz="1800" b="1" i="0" u="none" strike="noStrike" cap="none"/>
              <a:t>IBM Q 14 Melbourne:</a:t>
            </a:r>
            <a:r>
              <a:rPr lang="en-US" sz="1800" b="0" i="0" u="none" strike="noStrike" cap="none"/>
              <a:t> Procesador de 14 </a:t>
            </a:r>
            <a:r>
              <a:rPr lang="en-US" sz="1800"/>
              <a:t>Qu</a:t>
            </a:r>
            <a:r>
              <a:rPr lang="en-US" sz="1800" b="0" i="0" u="none" strike="noStrike" cap="none"/>
              <a:t>bits.</a:t>
            </a:r>
            <a:endParaRPr/>
          </a:p>
          <a:p>
            <a:pPr marL="0" marR="0" lvl="0" indent="-114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•"/>
            </a:pPr>
            <a:r>
              <a:rPr lang="en-US" sz="1800" b="1" i="0" u="none" strike="noStrike" cap="none"/>
              <a:t>IBM Q 16 Rüschlikon:</a:t>
            </a:r>
            <a:r>
              <a:rPr lang="en-US" sz="1800" b="0" i="0" u="none" strike="noStrike" cap="none"/>
              <a:t> Procesador de 16 </a:t>
            </a:r>
            <a:r>
              <a:rPr lang="en-US" sz="1800"/>
              <a:t>Qu</a:t>
            </a:r>
            <a:r>
              <a:rPr lang="en-US" sz="1800" b="0" i="0" u="none" strike="noStrike" cap="none"/>
              <a:t>bits.</a:t>
            </a:r>
            <a:endParaRPr/>
          </a:p>
          <a:p>
            <a:pPr marL="0" marR="0" lvl="0" indent="-114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•"/>
            </a:pPr>
            <a:r>
              <a:rPr lang="en-US" sz="1800" b="1" i="0" u="none" strike="noStrike" cap="none"/>
              <a:t>IBM Q 20 Tokyo:</a:t>
            </a:r>
            <a:r>
              <a:rPr lang="en-US" sz="1800" b="0" i="0" u="none" strike="noStrike" cap="none"/>
              <a:t> Procesador de 20 </a:t>
            </a:r>
            <a:r>
              <a:rPr lang="en-US" sz="1800"/>
              <a:t>Qu</a:t>
            </a:r>
            <a:r>
              <a:rPr lang="en-US" sz="1800" b="0" i="0" u="none" strike="noStrike" cap="none"/>
              <a:t>bits.</a:t>
            </a:r>
            <a:endParaRPr/>
          </a:p>
          <a:p>
            <a:pPr marL="0" marR="0" lvl="0" indent="-114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•"/>
            </a:pPr>
            <a:r>
              <a:rPr lang="en-US" sz="1800" b="1" i="0" u="none" strike="noStrike" cap="none"/>
              <a:t>IBM Q 50 Prototype:</a:t>
            </a:r>
            <a:r>
              <a:rPr lang="en-US" sz="1800" b="0" i="0" u="none" strike="noStrike" cap="none"/>
              <a:t> Procesador de 50 </a:t>
            </a:r>
            <a:r>
              <a:rPr lang="en-US" sz="1800"/>
              <a:t>Qu</a:t>
            </a:r>
            <a:r>
              <a:rPr lang="en-US" sz="1800" b="0" i="0" u="none" strike="noStrike" cap="none"/>
              <a:t>bits.</a:t>
            </a:r>
            <a:endParaRPr/>
          </a:p>
          <a:p>
            <a:pPr marL="0" marR="0" lvl="0" indent="-114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•"/>
            </a:pPr>
            <a:r>
              <a:rPr lang="en-US" sz="1800" b="1" i="0" u="none" strike="noStrike" cap="none"/>
              <a:t>IBM Q 53:</a:t>
            </a:r>
            <a:r>
              <a:rPr lang="en-US" sz="1800" b="0" i="0" u="none" strike="noStrike" cap="none"/>
              <a:t> Procesador de 53 </a:t>
            </a:r>
            <a:r>
              <a:rPr lang="en-US" sz="1800"/>
              <a:t>Qu</a:t>
            </a:r>
            <a:r>
              <a:rPr lang="en-US" sz="1800" b="0" i="0" u="none" strike="noStrike" cap="none"/>
              <a:t>bits.</a:t>
            </a:r>
            <a:endParaRPr/>
          </a:p>
          <a:p>
            <a:pPr marL="0" marR="0" lvl="0" indent="-114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•"/>
            </a:pPr>
            <a:r>
              <a:rPr lang="en-US" sz="1800" b="1" i="0" u="none" strike="noStrike" cap="none"/>
              <a:t>IBM Eagle (2021):</a:t>
            </a:r>
            <a:r>
              <a:rPr lang="en-US" sz="1800" b="0" i="0" u="none" strike="noStrike" cap="none"/>
              <a:t> Procesador de </a:t>
            </a:r>
            <a:r>
              <a:rPr lang="en-US" sz="1800" b="1" i="0" u="none" strike="noStrike" cap="none"/>
              <a:t>127 </a:t>
            </a:r>
            <a:r>
              <a:rPr lang="en-US" sz="1800" b="1"/>
              <a:t>Qu</a:t>
            </a:r>
            <a:r>
              <a:rPr lang="en-US" sz="1800" b="1" i="0" u="none" strike="noStrike" cap="none"/>
              <a:t>bits</a:t>
            </a:r>
            <a:r>
              <a:rPr lang="en-US" sz="1800" b="0" i="0" u="none" strike="noStrike" cap="none"/>
              <a:t>.</a:t>
            </a:r>
            <a:endParaRPr/>
          </a:p>
          <a:p>
            <a:pPr marL="0" marR="0" lvl="0" indent="-114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•"/>
            </a:pPr>
            <a:r>
              <a:rPr lang="en-US" sz="1800" b="1" i="0" u="none" strike="noStrike" cap="none"/>
              <a:t>IBM Osprey (2022):</a:t>
            </a:r>
            <a:r>
              <a:rPr lang="en-US" sz="1800" b="0" i="0" u="none" strike="noStrike" cap="none"/>
              <a:t> Procesador de </a:t>
            </a:r>
            <a:r>
              <a:rPr lang="en-US" sz="1800" b="1" i="0" u="none" strike="noStrike" cap="none"/>
              <a:t>433 </a:t>
            </a:r>
            <a:r>
              <a:rPr lang="en-US" sz="1800" b="1"/>
              <a:t>Qu</a:t>
            </a:r>
            <a:r>
              <a:rPr lang="en-US" sz="1800" b="1" i="0" u="none" strike="noStrike" cap="none"/>
              <a:t>bits</a:t>
            </a:r>
            <a:r>
              <a:rPr lang="en-US" sz="1800" b="0" i="0" u="none" strike="noStrike" cap="none"/>
              <a:t>.</a:t>
            </a:r>
            <a:endParaRPr/>
          </a:p>
          <a:p>
            <a:pPr marL="0" marR="0" lvl="0" indent="-114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•"/>
            </a:pPr>
            <a:r>
              <a:rPr lang="en-US" sz="1800" b="1" i="0" u="none" strike="noStrike" cap="none"/>
              <a:t>IBM Condor (2023):</a:t>
            </a:r>
            <a:r>
              <a:rPr lang="en-US" sz="1800" b="0" i="0" u="none" strike="noStrike" cap="none"/>
              <a:t> Procesador de </a:t>
            </a:r>
            <a:r>
              <a:rPr lang="en-US" sz="1800" b="1" i="0" u="none" strike="noStrike" cap="none"/>
              <a:t>1,121 </a:t>
            </a:r>
            <a:r>
              <a:rPr lang="en-US" sz="1800" b="1"/>
              <a:t>Qu</a:t>
            </a:r>
            <a:r>
              <a:rPr lang="en-US" sz="1800" b="1" i="0" u="none" strike="noStrike" cap="none"/>
              <a:t>bits</a:t>
            </a:r>
            <a:r>
              <a:rPr lang="en-US" sz="1800" b="0" i="0" u="none" strike="noStrike" cap="none"/>
              <a:t>.</a:t>
            </a:r>
            <a:endParaRPr/>
          </a:p>
          <a:p>
            <a:pPr marL="0" marR="0" lvl="0" indent="-114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•"/>
            </a:pPr>
            <a:r>
              <a:rPr lang="en-US" sz="1800" b="1" i="0" u="none" strike="noStrike" cap="none"/>
              <a:t>IBM Heron (2023):</a:t>
            </a:r>
            <a:r>
              <a:rPr lang="en-US" sz="1800" b="0" i="0" u="none" strike="noStrike" cap="none"/>
              <a:t> Procesador de 133 </a:t>
            </a:r>
            <a:r>
              <a:rPr lang="en-US" sz="1800"/>
              <a:t>Qu</a:t>
            </a:r>
            <a:r>
              <a:rPr lang="en-US" sz="1800" b="0" i="0" u="none" strike="noStrike" cap="none"/>
              <a:t>bits.</a:t>
            </a:r>
            <a:endParaRPr/>
          </a:p>
          <a:p>
            <a:pPr marL="0" marR="0" lvl="0" indent="-114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•"/>
            </a:pPr>
            <a:r>
              <a:rPr lang="en-US" sz="1800" b="1" i="0" u="none" strike="noStrike" cap="none"/>
              <a:t>IBM Heron R2 (2024):</a:t>
            </a:r>
            <a:r>
              <a:rPr lang="en-US" sz="1800" b="0" i="0" u="none" strike="noStrike" cap="none"/>
              <a:t> Procesador de 156 </a:t>
            </a:r>
            <a:r>
              <a:rPr lang="en-US" sz="1800"/>
              <a:t>Qu</a:t>
            </a:r>
            <a:r>
              <a:rPr lang="en-US" sz="1800" b="0" i="0" u="none" strike="noStrike" cap="none"/>
              <a:t>bits</a:t>
            </a:r>
            <a:endParaRPr/>
          </a:p>
        </p:txBody>
      </p:sp>
      <p:pic>
        <p:nvPicPr>
          <p:cNvPr id="300" name="Google Shape;300;p35" descr="Mano sosteniendo un celular en la man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 l="18192" r="186" b="-1"/>
          <a:stretch/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 extrusionOk="0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01" name="Google Shape;301;p35"/>
          <p:cNvSpPr/>
          <p:nvPr/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5"/>
          <p:cNvSpPr/>
          <p:nvPr/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haroni"/>
              <a:buNone/>
            </a:pPr>
            <a:r>
              <a:rPr lang="en-US"/>
              <a:t>Procesadores cuánticos de Google</a:t>
            </a:r>
            <a:endParaRPr/>
          </a:p>
        </p:txBody>
      </p:sp>
      <p:sp>
        <p:nvSpPr>
          <p:cNvPr id="309" name="Google Shape;309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38750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-139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1" i="0" u="none" strike="noStrike" cap="none">
                <a:latin typeface="Arial"/>
                <a:ea typeface="Arial"/>
                <a:cs typeface="Arial"/>
                <a:sym typeface="Arial"/>
              </a:rPr>
              <a:t>Sycamore (2019):</a:t>
            </a:r>
            <a:r>
              <a:rPr lang="en-US" sz="2200" b="0" i="0" u="none" strike="noStrike" cap="none">
                <a:latin typeface="Arial"/>
                <a:ea typeface="Arial"/>
                <a:cs typeface="Arial"/>
                <a:sym typeface="Arial"/>
              </a:rPr>
              <a:t> Procesador de </a:t>
            </a:r>
            <a:r>
              <a:rPr lang="en-US" sz="2200" b="1" i="0" u="none" strike="noStrike" cap="none">
                <a:latin typeface="Arial"/>
                <a:ea typeface="Arial"/>
                <a:cs typeface="Arial"/>
                <a:sym typeface="Arial"/>
              </a:rPr>
              <a:t>54 </a:t>
            </a: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Qu</a:t>
            </a:r>
            <a:r>
              <a:rPr lang="en-US" sz="2200" b="1" i="0" u="none" strike="noStrike" cap="none"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200" b="0" i="0" u="none" strike="noStrike" cap="none">
                <a:latin typeface="Arial"/>
                <a:ea typeface="Arial"/>
                <a:cs typeface="Arial"/>
                <a:sym typeface="Arial"/>
              </a:rPr>
              <a:t> que logró la </a:t>
            </a:r>
            <a:r>
              <a:rPr lang="en-US" sz="2200" b="1" i="1" u="none" strike="noStrike" cap="none">
                <a:latin typeface="Arial"/>
                <a:ea typeface="Arial"/>
                <a:cs typeface="Arial"/>
                <a:sym typeface="Arial"/>
              </a:rPr>
              <a:t>"supremacía cuántica" </a:t>
            </a:r>
            <a:r>
              <a:rPr lang="en-US" sz="2200" b="0" i="0" u="none" strike="noStrike" cap="none">
                <a:latin typeface="Arial"/>
                <a:ea typeface="Arial"/>
                <a:cs typeface="Arial"/>
                <a:sym typeface="Arial"/>
              </a:rPr>
              <a:t>al realizar en </a:t>
            </a:r>
            <a:r>
              <a:rPr lang="en-US" sz="2200" b="1" i="0" u="none" strike="noStrike" cap="none">
                <a:latin typeface="Arial"/>
                <a:ea typeface="Arial"/>
                <a:cs typeface="Arial"/>
                <a:sym typeface="Arial"/>
              </a:rPr>
              <a:t>200 segundos </a:t>
            </a:r>
            <a:r>
              <a:rPr lang="en-US" sz="2200" b="0" i="0" u="none" strike="noStrike" cap="none">
                <a:latin typeface="Arial"/>
                <a:ea typeface="Arial"/>
                <a:cs typeface="Arial"/>
                <a:sym typeface="Arial"/>
              </a:rPr>
              <a:t>un cálculo que a la supercomputadora más rápida de la época le habría tomado aproximadamente </a:t>
            </a:r>
            <a:r>
              <a:rPr lang="en-US" sz="2200" b="1" i="0" u="none" strike="noStrike" cap="none">
                <a:latin typeface="Arial"/>
                <a:ea typeface="Arial"/>
                <a:cs typeface="Arial"/>
                <a:sym typeface="Arial"/>
              </a:rPr>
              <a:t>10,000 años</a:t>
            </a:r>
            <a:r>
              <a:rPr lang="en-US" sz="2200" b="0" i="0" u="none" strike="noStrike" cap="none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-1397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1" i="0" u="none" strike="noStrike" cap="none">
                <a:latin typeface="Arial"/>
                <a:ea typeface="Arial"/>
                <a:cs typeface="Arial"/>
                <a:sym typeface="Arial"/>
              </a:rPr>
              <a:t>Willow (2024):</a:t>
            </a:r>
            <a:r>
              <a:rPr lang="en-US" sz="2200" b="0" i="0" u="none" strike="noStrike" cap="none">
                <a:latin typeface="Arial"/>
                <a:ea typeface="Arial"/>
                <a:cs typeface="Arial"/>
                <a:sym typeface="Arial"/>
              </a:rPr>
              <a:t> Procesador cuántico de </a:t>
            </a:r>
            <a:r>
              <a:rPr lang="en-US" sz="2200" b="1" i="0" u="none" strike="noStrike" cap="none">
                <a:latin typeface="Arial"/>
                <a:ea typeface="Arial"/>
                <a:cs typeface="Arial"/>
                <a:sym typeface="Arial"/>
              </a:rPr>
              <a:t>105 </a:t>
            </a: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Qu</a:t>
            </a:r>
            <a:r>
              <a:rPr lang="en-US" sz="2200" b="1" i="0" u="none" strike="noStrike" cap="none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2200" b="0" i="0" u="none" strike="noStrike" cap="none">
                <a:latin typeface="Arial"/>
                <a:ea typeface="Arial"/>
                <a:cs typeface="Arial"/>
                <a:sym typeface="Arial"/>
              </a:rPr>
              <a:t>que realizó en menos de cinco minutos un cálculo que llevaría a uno de los superordenadores más rápidos de hoy día 10 septillones de años.</a:t>
            </a:r>
            <a:endParaRPr/>
          </a:p>
        </p:txBody>
      </p:sp>
      <p:pic>
        <p:nvPicPr>
          <p:cNvPr id="310" name="Google Shape;310;p36"/>
          <p:cNvPicPr preferRelativeResize="0"/>
          <p:nvPr/>
        </p:nvPicPr>
        <p:blipFill rotWithShape="1">
          <a:blip r:embed="rId3">
            <a:alphaModFix/>
          </a:blip>
          <a:srcRect l="7405" r="17486"/>
          <a:stretch/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 extrusionOk="0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11" name="Google Shape;311;p36"/>
          <p:cNvSpPr/>
          <p:nvPr/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6"/>
          <p:cNvSpPr/>
          <p:nvPr/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7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7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p37" descr="Map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 t="1815" r="1" b="1660"/>
          <a:stretch/>
        </p:blipFill>
        <p:spPr>
          <a:xfrm>
            <a:off x="0" y="84471"/>
            <a:ext cx="12298680" cy="6737006"/>
          </a:xfrm>
          <a:custGeom>
            <a:avLst/>
            <a:gdLst/>
            <a:ahLst/>
            <a:cxnLst/>
            <a:rect l="l" t="t" r="r" b="b"/>
            <a:pathLst>
              <a:path w="11668636" h="6391879" extrusionOk="0">
                <a:moveTo>
                  <a:pt x="82200" y="0"/>
                </a:moveTo>
                <a:lnTo>
                  <a:pt x="11586436" y="0"/>
                </a:lnTo>
                <a:cubicBezTo>
                  <a:pt x="11631834" y="0"/>
                  <a:pt x="11668636" y="36802"/>
                  <a:pt x="11668636" y="82200"/>
                </a:cubicBezTo>
                <a:lnTo>
                  <a:pt x="11668636" y="6309679"/>
                </a:lnTo>
                <a:cubicBezTo>
                  <a:pt x="11668636" y="6355077"/>
                  <a:pt x="11631834" y="6391879"/>
                  <a:pt x="11586436" y="6391879"/>
                </a:cubicBezTo>
                <a:lnTo>
                  <a:pt x="82200" y="6391879"/>
                </a:lnTo>
                <a:cubicBezTo>
                  <a:pt x="36802" y="6391879"/>
                  <a:pt x="0" y="6355077"/>
                  <a:pt x="0" y="6309679"/>
                </a:cubicBezTo>
                <a:lnTo>
                  <a:pt x="0" y="82200"/>
                </a:lnTo>
                <a:cubicBezTo>
                  <a:pt x="0" y="36802"/>
                  <a:pt x="36802" y="0"/>
                  <a:pt x="8220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21" name="Google Shape;321;p37"/>
          <p:cNvSpPr/>
          <p:nvPr/>
        </p:nvSpPr>
        <p:spPr>
          <a:xfrm rot="-172285">
            <a:off x="8958979" y="368138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7"/>
          <p:cNvSpPr/>
          <p:nvPr/>
        </p:nvSpPr>
        <p:spPr>
          <a:xfrm>
            <a:off x="68969" y="5694291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8" descr="IBM Releases Version 1.0 of Qiskit - Quantum Computing Repo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9115" y="1182357"/>
            <a:ext cx="4724569" cy="14654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8" name="Google Shape;328;p38"/>
          <p:cNvCxnSpPr/>
          <p:nvPr/>
        </p:nvCxnSpPr>
        <p:spPr>
          <a:xfrm>
            <a:off x="6091214" y="1111170"/>
            <a:ext cx="11040" cy="4645103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29" name="Google Shape;329;p38" descr="PennyLane · PyPI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8316" y="1234715"/>
            <a:ext cx="4732940" cy="13607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0" name="Google Shape;330;p38"/>
          <p:cNvCxnSpPr/>
          <p:nvPr/>
        </p:nvCxnSpPr>
        <p:spPr>
          <a:xfrm>
            <a:off x="1403027" y="3428998"/>
            <a:ext cx="4188904" cy="1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1" name="Google Shape;331;p38"/>
          <p:cNvCxnSpPr/>
          <p:nvPr/>
        </p:nvCxnSpPr>
        <p:spPr>
          <a:xfrm>
            <a:off x="6610334" y="3428998"/>
            <a:ext cx="4188904" cy="1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32" name="Google Shape;332;p38" descr="Icono&#10;&#10;El contenido generado por IA puede ser incorrec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18468" y="3671316"/>
            <a:ext cx="2545862" cy="2545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8" descr="Proyecto Jupyter - Wikipedia, la enciclopedia libr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03602" y="3671316"/>
            <a:ext cx="2202367" cy="2553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0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0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4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0" name="Google Shape;350;p40" descr="UN declares 2025 the &quot;Year of Quantum Science&quot; · UPSCprep.com"/>
          <p:cNvPicPr preferRelativeResize="0"/>
          <p:nvPr/>
        </p:nvPicPr>
        <p:blipFill rotWithShape="1">
          <a:blip r:embed="rId3">
            <a:alphaModFix/>
          </a:blip>
          <a:srcRect t="745" r="1" b="1872"/>
          <a:stretch/>
        </p:blipFill>
        <p:spPr>
          <a:xfrm>
            <a:off x="261682" y="233061"/>
            <a:ext cx="11668636" cy="6391879"/>
          </a:xfrm>
          <a:custGeom>
            <a:avLst/>
            <a:gdLst/>
            <a:ahLst/>
            <a:cxnLst/>
            <a:rect l="l" t="t" r="r" b="b"/>
            <a:pathLst>
              <a:path w="11668636" h="6391879" extrusionOk="0">
                <a:moveTo>
                  <a:pt x="82200" y="0"/>
                </a:moveTo>
                <a:lnTo>
                  <a:pt x="11586436" y="0"/>
                </a:lnTo>
                <a:cubicBezTo>
                  <a:pt x="11631834" y="0"/>
                  <a:pt x="11668636" y="36802"/>
                  <a:pt x="11668636" y="82200"/>
                </a:cubicBezTo>
                <a:lnTo>
                  <a:pt x="11668636" y="6309679"/>
                </a:lnTo>
                <a:cubicBezTo>
                  <a:pt x="11668636" y="6355077"/>
                  <a:pt x="11631834" y="6391879"/>
                  <a:pt x="11586436" y="6391879"/>
                </a:cubicBezTo>
                <a:lnTo>
                  <a:pt x="82200" y="6391879"/>
                </a:lnTo>
                <a:cubicBezTo>
                  <a:pt x="36802" y="6391879"/>
                  <a:pt x="0" y="6355077"/>
                  <a:pt x="0" y="6309679"/>
                </a:cubicBezTo>
                <a:lnTo>
                  <a:pt x="0" y="82200"/>
                </a:lnTo>
                <a:cubicBezTo>
                  <a:pt x="0" y="36802"/>
                  <a:pt x="36802" y="0"/>
                  <a:pt x="8220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51" name="Google Shape;351;p40"/>
          <p:cNvSpPr/>
          <p:nvPr/>
        </p:nvSpPr>
        <p:spPr>
          <a:xfrm rot="-172285">
            <a:off x="8820704" y="368138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noFill/>
          <a:ln w="127000" cap="rnd" cmpd="sng">
            <a:solidFill>
              <a:srgbClr val="DD7E0E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0"/>
          <p:cNvSpPr/>
          <p:nvPr/>
        </p:nvSpPr>
        <p:spPr>
          <a:xfrm>
            <a:off x="715740" y="5694291"/>
            <a:ext cx="546100" cy="546100"/>
          </a:xfrm>
          <a:prstGeom prst="ellipse">
            <a:avLst/>
          </a:prstGeom>
          <a:solidFill>
            <a:srgbClr val="DD7E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Custom 30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</Words>
  <Application>Microsoft Office PowerPoint</Application>
  <PresentationFormat>Panorámica</PresentationFormat>
  <Paragraphs>54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Aharoni</vt:lpstr>
      <vt:lpstr>Arial</vt:lpstr>
      <vt:lpstr>Avenir</vt:lpstr>
      <vt:lpstr>Calibri</vt:lpstr>
      <vt:lpstr>ShapesVTI</vt:lpstr>
      <vt:lpstr>1. ¿Qué es una computadora cuántica?</vt:lpstr>
      <vt:lpstr>Computación clásica</vt:lpstr>
      <vt:lpstr>Bits clásicos</vt:lpstr>
      <vt:lpstr>Bits clásicos</vt:lpstr>
      <vt:lpstr>Bits clásicos</vt:lpstr>
      <vt:lpstr>Supercomputadoras</vt:lpstr>
      <vt:lpstr>Supercomputadoras</vt:lpstr>
      <vt:lpstr>Supercomputadoras</vt:lpstr>
      <vt:lpstr>Computación cuántica</vt:lpstr>
      <vt:lpstr>Presentación de PowerPoint</vt:lpstr>
      <vt:lpstr>Bits cuánticos/Quantum bits (Qubits)</vt:lpstr>
      <vt:lpstr>Presentación de PowerPoint</vt:lpstr>
      <vt:lpstr>¿Que ventaja tienen?</vt:lpstr>
      <vt:lpstr>¿Que ventaja tienen?</vt:lpstr>
      <vt:lpstr>¿Cómo se crea un Qubit?</vt:lpstr>
      <vt:lpstr>Presentación de PowerPoint</vt:lpstr>
      <vt:lpstr>Presentación de PowerPoint</vt:lpstr>
      <vt:lpstr>Industria de la computación cuántica</vt:lpstr>
      <vt:lpstr>Empresas que utilizan computación cuántica</vt:lpstr>
      <vt:lpstr>Procesadores cuánticos</vt:lpstr>
      <vt:lpstr>Procesadores cuánticos de IBM</vt:lpstr>
      <vt:lpstr>Procesadores cuánticos de Google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¿Qué es una computadora cuántica?</dc:title>
  <cp:lastModifiedBy>CARLOS ANDRES GOMEZ VASCO</cp:lastModifiedBy>
  <cp:revision>1</cp:revision>
  <dcterms:modified xsi:type="dcterms:W3CDTF">2025-07-30T20:10:13Z</dcterms:modified>
</cp:coreProperties>
</file>